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914400"/>
            <a:ext cx="10728655" cy="50292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645920"/>
            <a:ext cx="9966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FFFFF"/>
                </a:solidFill>
                <a:latin typeface="Georgia"/>
              </a:defRPr>
            </a:pPr>
            <a:r>
              <a:t>InsurMinds</a:t>
            </a:r>
          </a:p>
          <a:p>
            <a:pPr>
              <a:defRPr sz="2400">
                <a:solidFill>
                  <a:srgbClr val="93C5FD"/>
                </a:solidFill>
                <a:latin typeface="Georgia"/>
              </a:defRPr>
            </a:pPr>
            <a:r>
              <a:t>Comparador Inteligente de Apólices D&amp;O com IA Generativa</a:t>
            </a:r>
          </a:p>
        </p:txBody>
      </p:sp>
      <p:sp>
        <p:nvSpPr>
          <p:cNvPr id="4" name="Rectangle 3"/>
          <p:cNvSpPr/>
          <p:nvPr/>
        </p:nvSpPr>
        <p:spPr>
          <a:xfrm>
            <a:off x="1097280" y="3840480"/>
            <a:ext cx="9966960" cy="254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4114800"/>
            <a:ext cx="996696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E2E8F0"/>
                </a:solidFill>
                <a:latin typeface="Verdana"/>
              </a:defRPr>
            </a:pPr>
            <a:r>
              <a:t>Projeto Final de Graduação — Instituto de Inteligência Artificial Aplicada (I2A2)</a:t>
            </a:r>
          </a:p>
          <a:p>
            <a:pPr>
              <a:defRPr sz="1200" b="1">
                <a:solidFill>
                  <a:srgbClr val="FFFFFF"/>
                </a:solidFill>
                <a:latin typeface="Verdana"/>
              </a:defRPr>
            </a:pPr>
            <a:r>
              <a:t>Grupo InsurTechLab: Edmar Martelato | Marisa De Moraes | Roberto da Silva Goncalves | Rogério Walmor Cervi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Verdana"/>
              </a:defRPr>
            </a:pPr>
            <a:r>
              <a:t>INSURMINDS D&amp;O — INSURTECHLAB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E3A8A"/>
                </a:solidFill>
                <a:latin typeface="Georgia"/>
              </a:defRPr>
            </a:pPr>
            <a:r>
              <a:t>Análise manual de apólices D&amp;O consome horas de especialistas e expõe empresas a riscos velados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63040"/>
            <a:ext cx="10728655" cy="254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3328416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BF1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0" lIns="274320" rIns="274320"/>
          <a:lstStyle/>
          <a:p>
            <a:pPr algn="ctr">
              <a:defRPr sz="1000" b="1">
                <a:solidFill>
                  <a:srgbClr val="2563EB"/>
                </a:solidFill>
                <a:latin typeface="Verdana"/>
              </a:defRPr>
            </a:pPr>
            <a:r>
              <a:t>COMPLEXITY &amp; OVERHEAD</a:t>
            </a:r>
          </a:p>
          <a:p>
            <a:pPr>
              <a:spcBef>
                <a:spcPts val="800"/>
              </a:spcBef>
              <a:spcAft>
                <a:spcPts val="1200"/>
              </a:spcAft>
              <a:defRPr sz="1800" b="1">
                <a:solidFill>
                  <a:srgbClr val="1E3A8A"/>
                </a:solidFill>
                <a:latin typeface="Georgia"/>
              </a:defRPr>
            </a:pPr>
            <a:r>
              <a:t>Documentos Extensos &amp; Linguagem Jurídica</a:t>
            </a:r>
          </a:p>
          <a:p>
            <a:pPr>
              <a:defRPr sz="1200">
                <a:solidFill>
                  <a:srgbClr val="0F172A"/>
                </a:solidFill>
                <a:latin typeface="Verdana"/>
              </a:defRPr>
            </a:pPr>
            <a:r>
              <a:t>Apólices D&amp;O possuem mais de 50 páginas com sublimites, cláusulas de retroatividade e franquias complexas. O tempo de análise manual consome até 8 horas por apólice.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25696" y="1737360"/>
            <a:ext cx="3328416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BF1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0" lIns="274320" rIns="274320"/>
          <a:lstStyle/>
          <a:p>
            <a:pPr algn="ctr">
              <a:defRPr sz="1000" b="1">
                <a:solidFill>
                  <a:srgbClr val="2563EB"/>
                </a:solidFill>
                <a:latin typeface="Verdana"/>
              </a:defRPr>
            </a:pPr>
            <a:r>
              <a:t>HIDDEN RISK &amp; OMISSIONS</a:t>
            </a:r>
          </a:p>
          <a:p>
            <a:pPr>
              <a:spcBef>
                <a:spcPts val="800"/>
              </a:spcBef>
              <a:spcAft>
                <a:spcPts val="1200"/>
              </a:spcAft>
              <a:defRPr sz="1800" b="1">
                <a:solidFill>
                  <a:srgbClr val="1E3A8A"/>
                </a:solidFill>
                <a:latin typeface="Georgia"/>
              </a:defRPr>
            </a:pPr>
            <a:r>
              <a:t>Risco de Omissão &amp; Falta de Padronização</a:t>
            </a:r>
          </a:p>
          <a:p>
            <a:pPr>
              <a:defRPr sz="1200">
                <a:solidFill>
                  <a:srgbClr val="0F172A"/>
                </a:solidFill>
                <a:latin typeface="Verdana"/>
              </a:defRPr>
            </a:pPr>
            <a:r>
              <a:t>Pequenas divergências em cláusulas de exclusão de atos dolosos ou extensão para subsidiárias geram passivos milionários para diretores e conselheiros.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19872" y="1737360"/>
            <a:ext cx="3328416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BF1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0" lIns="274320" rIns="274320"/>
          <a:lstStyle/>
          <a:p>
            <a:pPr algn="ctr">
              <a:defRPr sz="1000" b="1">
                <a:solidFill>
                  <a:srgbClr val="2563EB"/>
                </a:solidFill>
                <a:latin typeface="Verdana"/>
              </a:defRPr>
            </a:pPr>
            <a:r>
              <a:t>HIGH DECISION FRICTION</a:t>
            </a:r>
          </a:p>
          <a:p>
            <a:pPr>
              <a:spcBef>
                <a:spcPts val="800"/>
              </a:spcBef>
              <a:spcAft>
                <a:spcPts val="1200"/>
              </a:spcAft>
              <a:defRPr sz="1800" b="1">
                <a:solidFill>
                  <a:srgbClr val="1E3A8A"/>
                </a:solidFill>
                <a:latin typeface="Georgia"/>
              </a:defRPr>
            </a:pPr>
            <a:r>
              <a:t>Gargalo na Tomada de Decisão</a:t>
            </a:r>
          </a:p>
          <a:p>
            <a:pPr>
              <a:defRPr sz="1200">
                <a:solidFill>
                  <a:srgbClr val="0F172A"/>
                </a:solidFill>
                <a:latin typeface="Verdana"/>
              </a:defRPr>
            </a:pPr>
            <a:r>
              <a:t>Corretores e gestores de risco enfrentam extrema dificuldade para realizar comparações 'campo a campo' de forma ágil durante renovações de seguros.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Verdana"/>
              </a:defRPr>
            </a:pPr>
            <a:r>
              <a:t>INSURMINDS D&amp;O — INSURTECHLAB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E3A8A"/>
                </a:solidFill>
                <a:latin typeface="Georgia"/>
              </a:defRPr>
            </a:pPr>
            <a:r>
              <a:t>InsurMinds automatiza leitura, extração Pydantic e comparação diferencial com IA Generativa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63040"/>
            <a:ext cx="10728655" cy="254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640080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BF1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0" lIns="365760" rIns="365760"/>
          <a:lstStyle/>
          <a:p>
            <a:pPr algn="ctr">
              <a:defRPr sz="1500" b="1">
                <a:solidFill>
                  <a:srgbClr val="1E3A8A"/>
                </a:solidFill>
                <a:latin typeface="Georgia"/>
              </a:defRPr>
            </a:pPr>
            <a:r>
              <a:t>📥 Ingestão Inteligente Multi-formato</a:t>
            </a:r>
          </a:p>
          <a:p>
            <a:pPr>
              <a:defRPr sz="1100">
                <a:solidFill>
                  <a:srgbClr val="0F172A"/>
                </a:solidFill>
                <a:latin typeface="Verdana"/>
              </a:defRPr>
            </a:pPr>
            <a:r>
              <a:t>Processa apólices e propostas em PDF e imagem com suporte a OCR avançado.</a:t>
            </a:r>
          </a:p>
          <a:p>
            <a:pPr>
              <a:spcBef>
                <a:spcPts val="1000"/>
              </a:spcBef>
              <a:defRPr sz="1500" b="1">
                <a:solidFill>
                  <a:srgbClr val="1E3A8A"/>
                </a:solidFill>
                <a:latin typeface="Georgia"/>
              </a:defRPr>
            </a:pPr>
            <a:r>
              <a:t>🧩 Structuring com Pydantic / JSON Schema</a:t>
            </a:r>
          </a:p>
          <a:p>
            <a:pPr>
              <a:defRPr sz="1100">
                <a:solidFill>
                  <a:srgbClr val="0F172A"/>
                </a:solidFill>
                <a:latin typeface="Verdana"/>
              </a:defRPr>
            </a:pPr>
            <a:r>
              <a:t>Garante estrita tipagem dos dados extraídos (LMG, sublimites, franquias, vigência).</a:t>
            </a:r>
          </a:p>
          <a:p>
            <a:pPr>
              <a:spcBef>
                <a:spcPts val="1000"/>
              </a:spcBef>
              <a:defRPr sz="1500" b="1">
                <a:solidFill>
                  <a:srgbClr val="1E3A8A"/>
                </a:solidFill>
                <a:latin typeface="Georgia"/>
              </a:defRPr>
            </a:pPr>
            <a:r>
              <a:t>⚖️ Agente Comparador (Gap Analysis)</a:t>
            </a:r>
          </a:p>
          <a:p>
            <a:pPr>
              <a:defRPr sz="1100">
                <a:solidFill>
                  <a:srgbClr val="0F172A"/>
                </a:solidFill>
                <a:latin typeface="Verdana"/>
              </a:defRPr>
            </a:pPr>
            <a:r>
              <a:t>Mapeia divergências e pontos críticos entre duas ou mais apólices em segundos.</a:t>
            </a:r>
          </a:p>
          <a:p>
            <a:pPr>
              <a:spcBef>
                <a:spcPts val="1000"/>
              </a:spcBef>
              <a:defRPr sz="1500" b="1">
                <a:solidFill>
                  <a:srgbClr val="1E3A8A"/>
                </a:solidFill>
                <a:latin typeface="Georgia"/>
              </a:defRPr>
            </a:pPr>
            <a:r>
              <a:t>🖥️ Interface Web Streamlit Interativa</a:t>
            </a:r>
          </a:p>
          <a:p>
            <a:pPr>
              <a:defRPr sz="1100">
                <a:solidFill>
                  <a:srgbClr val="0F172A"/>
                </a:solidFill>
                <a:latin typeface="Verdana"/>
              </a:defRPr>
            </a:pPr>
            <a:r>
              <a:t>Permite navegação intuitiva, upload drag-and-drop e exportação de pareceres executivos.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98079" y="1737360"/>
            <a:ext cx="3962095" cy="438912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457200" lIns="365760" rIns="365760"/>
          <a:lstStyle/>
          <a:p>
            <a:pPr algn="ctr">
              <a:defRPr sz="1100" b="1">
                <a:solidFill>
                  <a:srgbClr val="93C5FD"/>
                </a:solidFill>
                <a:latin typeface="Verdana"/>
              </a:defRPr>
            </a:pPr>
            <a:r>
              <a:t>IMPACTO ESTIMADO</a:t>
            </a:r>
          </a:p>
          <a:p>
            <a:pPr>
              <a:defRPr sz="5400" b="1">
                <a:solidFill>
                  <a:srgbClr val="FFFFFF"/>
                </a:solidFill>
                <a:latin typeface="Georgia"/>
              </a:defRPr>
            </a:pPr>
            <a:r>
              <a:t>90%</a:t>
            </a:r>
          </a:p>
          <a:p>
            <a:pPr>
              <a:spcAft>
                <a:spcPts val="2000"/>
              </a:spcAft>
              <a:defRPr sz="1300">
                <a:solidFill>
                  <a:srgbClr val="E2E8F0"/>
                </a:solidFill>
                <a:latin typeface="Verdana"/>
              </a:defRPr>
            </a:pPr>
            <a:r>
              <a:t>Redução no tempo de análise contratual de seguros D&amp;O.</a:t>
            </a:r>
          </a:p>
          <a:p>
            <a:pPr>
              <a:defRPr sz="2200" b="1">
                <a:solidFill>
                  <a:srgbClr val="FFFFFF"/>
                </a:solidFill>
                <a:latin typeface="Georgia"/>
              </a:defRPr>
            </a:pPr>
            <a:r>
              <a:t>100% Rastreável</a:t>
            </a:r>
          </a:p>
          <a:p>
            <a:pPr>
              <a:defRPr sz="1100">
                <a:solidFill>
                  <a:srgbClr val="CBD5E1"/>
                </a:solidFill>
                <a:latin typeface="Verdana"/>
              </a:defRPr>
            </a:pPr>
            <a:r>
              <a:t>Cada cláusula extraída possui referência direta ao texto original da apólice.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Verdana"/>
              </a:defRPr>
            </a:pPr>
            <a:r>
              <a:t>INSURMINDS D&amp;O — INSURTECHLAB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E3A8A"/>
                </a:solidFill>
                <a:latin typeface="Georgia"/>
              </a:defRPr>
            </a:pPr>
            <a:r>
              <a:t>Arquitetura modular em 6 agentes especializados garante isolamento e robustez técnica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63040"/>
            <a:ext cx="10728655" cy="254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3328416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EBF1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 lIns="228600" rIns="228600"/>
          <a:lstStyle/>
          <a:p>
            <a:pPr algn="ctr">
              <a:spcAft>
                <a:spcPts val="600"/>
              </a:spcAft>
              <a:defRPr sz="1500" b="1">
                <a:solidFill>
                  <a:srgbClr val="1E3A8A"/>
                </a:solidFill>
                <a:latin typeface="Georgia"/>
              </a:defRPr>
            </a:pPr>
            <a:r>
              <a:t>1. Agente Recepção</a:t>
            </a:r>
          </a:p>
          <a:p>
            <a:pPr>
              <a:defRPr sz="1100">
                <a:solidFill>
                  <a:srgbClr val="0F172A"/>
                </a:solidFill>
                <a:latin typeface="Verdana"/>
              </a:defRPr>
            </a:pPr>
            <a:r>
              <a:t>Leitura e preprocessamento de arquivos PDF/Imagem.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25696" y="1737360"/>
            <a:ext cx="3328416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EBF1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 lIns="228600" rIns="228600"/>
          <a:lstStyle/>
          <a:p>
            <a:pPr algn="ctr">
              <a:spcAft>
                <a:spcPts val="600"/>
              </a:spcAft>
              <a:defRPr sz="1500" b="1">
                <a:solidFill>
                  <a:srgbClr val="1E3A8A"/>
                </a:solidFill>
                <a:latin typeface="Georgia"/>
              </a:defRPr>
            </a:pPr>
            <a:r>
              <a:t>2. Agente OCR</a:t>
            </a:r>
          </a:p>
          <a:p>
            <a:pPr>
              <a:defRPr sz="1100">
                <a:solidFill>
                  <a:srgbClr val="0F172A"/>
                </a:solidFill>
                <a:latin typeface="Verdana"/>
              </a:defRPr>
            </a:pPr>
            <a:r>
              <a:t>Extração de texto bruto e conversão de leiautes complexos.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19872" y="1737360"/>
            <a:ext cx="3328416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EBF1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 lIns="228600" rIns="228600"/>
          <a:lstStyle/>
          <a:p>
            <a:pPr algn="ctr">
              <a:spcAft>
                <a:spcPts val="600"/>
              </a:spcAft>
              <a:defRPr sz="1500" b="1">
                <a:solidFill>
                  <a:srgbClr val="1E3A8A"/>
                </a:solidFill>
                <a:latin typeface="Georgia"/>
              </a:defRPr>
            </a:pPr>
            <a:r>
              <a:t>3. Agente Extrator</a:t>
            </a:r>
          </a:p>
          <a:p>
            <a:pPr>
              <a:defRPr sz="1100">
                <a:solidFill>
                  <a:srgbClr val="0F172A"/>
                </a:solidFill>
                <a:latin typeface="Verdana"/>
              </a:defRPr>
            </a:pPr>
            <a:r>
              <a:t>LLM com EXTRACTION_PROMPT.py para captura dos dados D&amp;O.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023360"/>
            <a:ext cx="3328416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EBF1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 lIns="228600" rIns="228600"/>
          <a:lstStyle/>
          <a:p>
            <a:pPr algn="ctr">
              <a:spcAft>
                <a:spcPts val="600"/>
              </a:spcAft>
              <a:defRPr sz="1500" b="1">
                <a:solidFill>
                  <a:srgbClr val="1E3A8A"/>
                </a:solidFill>
                <a:latin typeface="Georgia"/>
              </a:defRPr>
            </a:pPr>
            <a:r>
              <a:t>4. Agente Validador</a:t>
            </a:r>
          </a:p>
          <a:p>
            <a:pPr>
              <a:defRPr sz="1100">
                <a:solidFill>
                  <a:srgbClr val="0F172A"/>
                </a:solidFill>
                <a:latin typeface="Verdana"/>
              </a:defRPr>
            </a:pPr>
            <a:r>
              <a:t>Aplicação do Pydantic Schema (schemas_policy.py).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25696" y="4023360"/>
            <a:ext cx="3328416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EBF1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 lIns="228600" rIns="228600"/>
          <a:lstStyle/>
          <a:p>
            <a:pPr algn="ctr">
              <a:spcAft>
                <a:spcPts val="600"/>
              </a:spcAft>
              <a:defRPr sz="1500" b="1">
                <a:solidFill>
                  <a:srgbClr val="1E3A8A"/>
                </a:solidFill>
                <a:latin typeface="Georgia"/>
              </a:defRPr>
            </a:pPr>
            <a:r>
              <a:t>5. Agente Comparador</a:t>
            </a:r>
          </a:p>
          <a:p>
            <a:pPr>
              <a:defRPr sz="1100">
                <a:solidFill>
                  <a:srgbClr val="0F172A"/>
                </a:solidFill>
                <a:latin typeface="Verdana"/>
              </a:defRPr>
            </a:pPr>
            <a:r>
              <a:t>Análise diferencial e ranking de apólices (comparison_agent.py).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19872" y="4023360"/>
            <a:ext cx="3328416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EBF1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 lIns="228600" rIns="228600"/>
          <a:lstStyle/>
          <a:p>
            <a:pPr algn="ctr">
              <a:spcAft>
                <a:spcPts val="600"/>
              </a:spcAft>
              <a:defRPr sz="1500" b="1">
                <a:solidFill>
                  <a:srgbClr val="1E3A8A"/>
                </a:solidFill>
                <a:latin typeface="Georgia"/>
              </a:defRPr>
            </a:pPr>
            <a:r>
              <a:t>6. Agente Relatório</a:t>
            </a:r>
          </a:p>
          <a:p>
            <a:pPr>
              <a:defRPr sz="1100">
                <a:solidFill>
                  <a:srgbClr val="0F172A"/>
                </a:solidFill>
                <a:latin typeface="Verdana"/>
              </a:defRPr>
            </a:pPr>
            <a:r>
              <a:t>Geração de pareceres executivos e visualização Streamlit (app.py).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Verdana"/>
              </a:defRPr>
            </a:pPr>
            <a:r>
              <a:t>INSURMINDS D&amp;O — INSURTECHLAB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E3A8A"/>
                </a:solidFill>
                <a:latin typeface="Georgia"/>
              </a:defRPr>
            </a:pPr>
            <a:r>
              <a:t>Pydantic Schema e JSON estruturado eliminam alucinações e garantem conformidade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63040"/>
            <a:ext cx="10728655" cy="254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737360"/>
          <a:ext cx="10728655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3840480"/>
                <a:gridCol w="3962095"/>
              </a:tblGrid>
              <a:tr h="877824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Georgia"/>
                        </a:defRPr>
                      </a:pPr>
                      <a:r>
                        <a:t>Dimensão da Análise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Georgia"/>
                        </a:defRPr>
                      </a:pPr>
                      <a:r>
                        <a:t>Processo Tradicional / Manual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Georgia"/>
                        </a:defRPr>
                      </a:pPr>
                      <a:r>
                        <a:t>InsurMinds (Arquitetura Pydantic)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</a:tr>
              <a:tr h="877824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  <a:latin typeface="Verdana"/>
                        </a:defRPr>
                      </a:pPr>
                      <a:r>
                        <a:t>Validação do Formato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  <a:latin typeface="Verdana"/>
                        </a:defRPr>
                      </a:pPr>
                      <a:r>
                        <a:t>Subjetiva e passível de erros humanos ao ler dezenas de páginas.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  <a:latin typeface="Verdana"/>
                        </a:defRPr>
                      </a:pPr>
                      <a:r>
                        <a:t>Validação estrita de tipos via Pydantic (float, date, enum).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77824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  <a:latin typeface="Verdana"/>
                        </a:defRPr>
                      </a:pPr>
                      <a:r>
                        <a:t>Detecção de Exclusões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  <a:latin typeface="Verdana"/>
                        </a:defRPr>
                      </a:pPr>
                      <a:r>
                        <a:t>Exclusões críticas costumam ficar ocultas em notas de rodapé.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  <a:latin typeface="Verdana"/>
                        </a:defRPr>
                      </a:pPr>
                      <a:r>
                        <a:t>Captura sistemática através de prompts estruturados e direcionados.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877824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  <a:latin typeface="Verdana"/>
                        </a:defRPr>
                      </a:pPr>
                      <a:r>
                        <a:t>Comparabilidade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  <a:latin typeface="Verdana"/>
                        </a:defRPr>
                      </a:pPr>
                      <a:r>
                        <a:t>Montagem de planilhas manuais sem padronização de conceitos.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  <a:latin typeface="Verdana"/>
                        </a:defRPr>
                      </a:pPr>
                      <a:r>
                        <a:t>Mapeamento para um JSON Schema único universal para todas as seguradoras.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77824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  <a:latin typeface="Verdana"/>
                        </a:defRPr>
                      </a:pPr>
                      <a:r>
                        <a:t>Velocidade e Escala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  <a:latin typeface="Verdana"/>
                        </a:defRPr>
                      </a:pPr>
                      <a:r>
                        <a:t>Análise de 2 apólices leva horas.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  <a:latin typeface="Verdana"/>
                        </a:defRPr>
                      </a:pPr>
                      <a:r>
                        <a:t>Comparação concluída em poucos segundos pelo comparison_agent.py.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Verdana"/>
              </a:defRPr>
            </a:pPr>
            <a:r>
              <a:t>INSURMINDS D&amp;O — INSURTECHLAB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E3A8A"/>
                </a:solidFill>
                <a:latin typeface="Georgia"/>
              </a:defRPr>
            </a:pPr>
            <a:r>
              <a:t>Entregas alinhadas aos requisitos do edital I2A2 e prontas para uso real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63040"/>
            <a:ext cx="10728655" cy="254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5150815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EBF1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28600" lIns="274320" rIns="274320"/>
          <a:lstStyle/>
          <a:p>
            <a:pPr algn="ctr">
              <a:spcAft>
                <a:spcPts val="800"/>
              </a:spcAft>
              <a:defRPr sz="1600" b="1">
                <a:solidFill>
                  <a:srgbClr val="1E3A8A"/>
                </a:solidFill>
                <a:latin typeface="Georgia"/>
              </a:defRPr>
            </a:pPr>
            <a:r>
              <a:t>✅ MVP 100% Funcional</a:t>
            </a:r>
          </a:p>
          <a:p>
            <a:pPr>
              <a:defRPr sz="1200">
                <a:solidFill>
                  <a:srgbClr val="0F172A"/>
                </a:solidFill>
                <a:latin typeface="Verdana"/>
              </a:defRPr>
            </a:pPr>
            <a:r>
              <a:t>Código modular com interface Streamlit pronta para demonstrações executivas.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737360"/>
            <a:ext cx="5150815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EBF1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28600" lIns="274320" rIns="274320"/>
          <a:lstStyle/>
          <a:p>
            <a:pPr algn="ctr">
              <a:spcAft>
                <a:spcPts val="800"/>
              </a:spcAft>
              <a:defRPr sz="1600" b="1">
                <a:solidFill>
                  <a:srgbClr val="1E3A8A"/>
                </a:solidFill>
                <a:latin typeface="Georgia"/>
              </a:defRPr>
            </a:pPr>
            <a:r>
              <a:t>🛡️ Foco em Seguros D&amp;O</a:t>
            </a:r>
          </a:p>
          <a:p>
            <a:pPr>
              <a:defRPr sz="1200">
                <a:solidFill>
                  <a:srgbClr val="0F172A"/>
                </a:solidFill>
                <a:latin typeface="Verdana"/>
              </a:defRPr>
            </a:pPr>
            <a:r>
              <a:t>Especializado na complexidade de Directors &amp; Officers, abordando sublimites e retroatividade.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931920"/>
            <a:ext cx="5150815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EBF1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28600" lIns="274320" rIns="274320"/>
          <a:lstStyle/>
          <a:p>
            <a:pPr algn="ctr">
              <a:spcAft>
                <a:spcPts val="800"/>
              </a:spcAft>
              <a:defRPr sz="1600" b="1">
                <a:solidFill>
                  <a:srgbClr val="1E3A8A"/>
                </a:solidFill>
                <a:latin typeface="Georgia"/>
              </a:defRPr>
            </a:pPr>
            <a:r>
              <a:t>📄 Documentação Completa</a:t>
            </a:r>
          </a:p>
          <a:p>
            <a:pPr>
              <a:defRPr sz="1200">
                <a:solidFill>
                  <a:srgbClr val="0F172A"/>
                </a:solidFill>
                <a:latin typeface="Verdana"/>
              </a:defRPr>
            </a:pPr>
            <a:r>
              <a:t>Relatório técnico em PDF, código no GitHub sob licença MIT e Pitch Deck.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3931920"/>
            <a:ext cx="5150815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EBF1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28600" lIns="274320" rIns="274320"/>
          <a:lstStyle/>
          <a:p>
            <a:pPr algn="ctr">
              <a:spcAft>
                <a:spcPts val="800"/>
              </a:spcAft>
              <a:defRPr sz="1600" b="1">
                <a:solidFill>
                  <a:srgbClr val="1E3A8A"/>
                </a:solidFill>
                <a:latin typeface="Georgia"/>
              </a:defRPr>
            </a:pPr>
            <a:r>
              <a:t>🚀 Pronto para Escalar</a:t>
            </a:r>
          </a:p>
          <a:p>
            <a:pPr>
              <a:defRPr sz="1200">
                <a:solidFill>
                  <a:srgbClr val="0F172A"/>
                </a:solidFill>
                <a:latin typeface="Verdana"/>
              </a:defRPr>
            </a:pPr>
            <a:r>
              <a:t>Suporta integração com novas APIs de LLM e bancos de dados vetoriais (RAG).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Verdana"/>
              </a:defRPr>
            </a:pPr>
            <a:r>
              <a:t>INSURMINDS D&amp;O — INSURTECHLAB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E3A8A"/>
                </a:solidFill>
                <a:latin typeface="Georgia"/>
              </a:defRPr>
            </a:pPr>
            <a:r>
              <a:t>Equipe multidisciplinar InsurTechLab pronta para transformar a gestão de risco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63040"/>
            <a:ext cx="10728655" cy="254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10728655" cy="438912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0" lIns="457200" rIns="457200"/>
          <a:lstStyle/>
          <a:p>
            <a:pPr algn="ctr">
              <a:spcAft>
                <a:spcPts val="1400"/>
              </a:spcAft>
              <a:defRPr sz="1100" b="1">
                <a:solidFill>
                  <a:srgbClr val="93C5FD"/>
                </a:solidFill>
                <a:latin typeface="Verdana"/>
              </a:defRPr>
            </a:pPr>
            <a:r>
              <a:t>INTEGRANTES DO GRUPO (INSURTECHLAB)</a:t>
            </a:r>
          </a:p>
          <a:p>
            <a:pPr>
              <a:spcAft>
                <a:spcPts val="800"/>
              </a:spcAft>
              <a:defRPr sz="2000" b="1">
                <a:solidFill>
                  <a:srgbClr val="FFFFFF"/>
                </a:solidFill>
                <a:latin typeface="Georgia"/>
              </a:defRPr>
            </a:pPr>
            <a:r>
              <a:t>• Edmar Martelato</a:t>
            </a:r>
          </a:p>
          <a:p>
            <a:pPr>
              <a:spcAft>
                <a:spcPts val="800"/>
              </a:spcAft>
              <a:defRPr sz="2000" b="1">
                <a:solidFill>
                  <a:srgbClr val="FFFFFF"/>
                </a:solidFill>
                <a:latin typeface="Georgia"/>
              </a:defRPr>
            </a:pPr>
            <a:r>
              <a:t>• Marisa De Moraes</a:t>
            </a:r>
          </a:p>
          <a:p>
            <a:pPr>
              <a:spcAft>
                <a:spcPts val="800"/>
              </a:spcAft>
              <a:defRPr sz="2000" b="1">
                <a:solidFill>
                  <a:srgbClr val="FFFFFF"/>
                </a:solidFill>
                <a:latin typeface="Georgia"/>
              </a:defRPr>
            </a:pPr>
            <a:r>
              <a:t>• Roberto da Silva Goncalves</a:t>
            </a:r>
          </a:p>
          <a:p>
            <a:pPr>
              <a:spcAft>
                <a:spcPts val="800"/>
              </a:spcAft>
              <a:defRPr sz="2000" b="1">
                <a:solidFill>
                  <a:srgbClr val="FFFFFF"/>
                </a:solidFill>
                <a:latin typeface="Georgia"/>
              </a:defRPr>
            </a:pPr>
            <a:r>
              <a:t>• Rogério Walmor Cervi</a:t>
            </a:r>
          </a:p>
          <a:p>
            <a:pPr>
              <a:spcBef>
                <a:spcPts val="2000"/>
              </a:spcBef>
              <a:defRPr sz="1200">
                <a:solidFill>
                  <a:srgbClr val="E2E8F0"/>
                </a:solidFill>
                <a:latin typeface="Verdana"/>
              </a:defRPr>
            </a:pPr>
            <a:r>
              <a:t>Agradecimentos ao Instituto de Inteligência Artificial Aplicada (I2A2) e aos mentores do programa.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